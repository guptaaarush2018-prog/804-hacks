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295400" y="2490465"/>
            <a:ext cx="7749034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950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95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295400" y="4001765"/>
            <a:ext cx="10083800" cy="204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295400" y="2490465"/>
            <a:ext cx="7749034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950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95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295400" y="4001765"/>
            <a:ext cx="10083800" cy="204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01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E9A2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804 HACKS · TRACK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57760"/>
            <a:ext cx="10883392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Wattson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12800" y="4157960"/>
            <a:ext cx="1088339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home, part of a smarter city.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Sustainable Future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waste nobody sees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725265"/>
            <a:ext cx="3380284" cy="2271911"/>
          </a:xfrm>
          <a:prstGeom prst="roundRect">
            <a:avLst>
              <a:gd name="adj" fmla="val 6568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2033240"/>
            <a:ext cx="284726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366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33.3T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23950" y="2896840"/>
            <a:ext cx="284726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gallons of treated water lost every year in the U.S.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09" y="1725265"/>
            <a:ext cx="3380333" cy="2271911"/>
          </a:xfrm>
          <a:prstGeom prst="roundRect">
            <a:avLst>
              <a:gd name="adj" fmla="val 6568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13784" y="2033240"/>
            <a:ext cx="28473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366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58%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713784" y="2896840"/>
            <a:ext cx="284731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landfill methane comes from food waste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692" y="1725265"/>
            <a:ext cx="3380333" cy="2271911"/>
          </a:xfrm>
          <a:prstGeom prst="roundRect">
            <a:avLst>
              <a:gd name="adj" fmla="val 6568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3667" y="2033240"/>
            <a:ext cx="28473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366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in 4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303667" y="2896840"/>
            <a:ext cx="2847315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low-income Richmonders spend 17.5%+ of income on energy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Sources: ASCE 2025 Report Card · EPA 2023 · ACEEE 2024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36366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123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JANUARY 6, 2025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74826"/>
            <a:ext cx="10883392" cy="145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16"/>
              </a:lnSpc>
              <a:buNone/>
            </a:pPr>
            <a:r>
              <a:rPr lang="en-US" sz="5200" b="1" i="0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Richmond couldn’t drink its tap water for a week.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255195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23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Nobody saw it coming. Not homes. Not the city.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Citywide boil-water advisory; another followed May 27, 2025 · Virginia Mercury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Wattson connects homes and cities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65"/>
            <a:ext cx="5175250" cy="2312591"/>
          </a:xfrm>
          <a:prstGeom prst="roundRect">
            <a:avLst>
              <a:gd name="adj" fmla="val 6453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4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4750" y="20332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4750" y="2617440"/>
            <a:ext cx="45914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households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74750" y="3079700"/>
            <a:ext cx="4591431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Snap a bill or receipt. Get a Resource Score and fixes that save money.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00775" y="1674465"/>
            <a:ext cx="5175250" cy="2312591"/>
          </a:xfrm>
          <a:prstGeom prst="roundRect">
            <a:avLst>
              <a:gd name="adj" fmla="val 6453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8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59550" y="20332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9550" y="2617440"/>
            <a:ext cx="45914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cities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559550" y="3079700"/>
            <a:ext cx="4591431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Anonymous usage map shows where to fix pipes, grid and food waste.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2800" y="4345831"/>
            <a:ext cx="10566400" cy="762000"/>
          </a:xfrm>
          <a:prstGeom prst="roundRect">
            <a:avLst>
              <a:gd name="adj" fmla="val 20000"/>
            </a:avLst>
          </a:prstGeom>
          <a:solidFill>
            <a:srgbClr val="12302A"/>
          </a:solidFill>
          <a:ln/>
        </p:spPr>
      </p:sp>
      <p:pic>
        <p:nvPicPr>
          <p:cNvPr id="12" name="Image 2" descr="Light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17600" y="4549031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25600" y="4584601"/>
            <a:ext cx="58300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Grid Sync:</a:t>
            </a: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run appliances when the grid is cleanest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90"/>
            <a:ext cx="2108200" cy="1955750"/>
          </a:xfrm>
          <a:prstGeom prst="roundRect">
            <a:avLst>
              <a:gd name="adj" fmla="val 7792"/>
            </a:avLst>
          </a:prstGeom>
          <a:solidFill>
            <a:srgbClr val="FBFAF5"/>
          </a:solidFill>
          <a:ln/>
        </p:spPr>
      </p:sp>
      <p:pic>
        <p:nvPicPr>
          <p:cNvPr id="4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2900" y="1976090"/>
            <a:ext cx="508000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6910" y="2611090"/>
            <a:ext cx="79998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7628" y="3073350"/>
            <a:ext cx="167854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Bills and receipts</a:t>
            </a:r>
            <a:endParaRPr lang="en-US" sz="14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73400" y="2547541"/>
            <a:ext cx="406400" cy="20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32200" y="1671290"/>
            <a:ext cx="2108200" cy="1955750"/>
          </a:xfrm>
          <a:prstGeom prst="roundRect">
            <a:avLst>
              <a:gd name="adj" fmla="val 7792"/>
            </a:avLst>
          </a:prstGeom>
          <a:solidFill>
            <a:srgbClr val="FBFAF5"/>
          </a:solidFill>
          <a:ln/>
        </p:spPr>
      </p:sp>
      <p:pic>
        <p:nvPicPr>
          <p:cNvPr id="9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32300" y="1976090"/>
            <a:ext cx="508000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23747" y="2611090"/>
            <a:ext cx="92505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3757434" y="3073350"/>
            <a:ext cx="18577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Energy, water, food</a:t>
            </a:r>
            <a:endParaRPr lang="en-US" sz="1400" dirty="0"/>
          </a:p>
        </p:txBody>
      </p:sp>
      <p:pic>
        <p:nvPicPr>
          <p:cNvPr id="12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92800" y="2547541"/>
            <a:ext cx="406400" cy="2032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51600" y="1671290"/>
            <a:ext cx="2108200" cy="1955750"/>
          </a:xfrm>
          <a:prstGeom prst="roundRect">
            <a:avLst>
              <a:gd name="adj" fmla="val 7792"/>
            </a:avLst>
          </a:prstGeom>
          <a:solidFill>
            <a:srgbClr val="FBFAF5"/>
          </a:solidFill>
          <a:ln/>
        </p:spPr>
      </p:sp>
      <p:pic>
        <p:nvPicPr>
          <p:cNvPr id="14" name="Image 4" descr="Wren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51700" y="1976090"/>
            <a:ext cx="508000" cy="508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72338" y="2611090"/>
            <a:ext cx="46672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6602849" y="3073350"/>
            <a:ext cx="18057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Ranked by savings</a:t>
            </a:r>
            <a:endParaRPr lang="en-US" sz="1400" dirty="0"/>
          </a:p>
        </p:txBody>
      </p:sp>
      <p:pic>
        <p:nvPicPr>
          <p:cNvPr id="17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12200" y="2547541"/>
            <a:ext cx="406400" cy="2032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271000" y="1671290"/>
            <a:ext cx="2108200" cy="1955750"/>
          </a:xfrm>
          <a:prstGeom prst="roundRect">
            <a:avLst>
              <a:gd name="adj" fmla="val 7792"/>
            </a:avLst>
          </a:prstGeom>
          <a:solidFill>
            <a:srgbClr val="12302A"/>
          </a:solidFill>
          <a:ln/>
        </p:spPr>
      </p:sp>
      <p:pic>
        <p:nvPicPr>
          <p:cNvPr id="19" name="Image 6" descr="Glob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71100" y="1976090"/>
            <a:ext cx="508000" cy="5080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973389" y="2611090"/>
            <a:ext cx="70342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Map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9367302" y="3073350"/>
            <a:ext cx="191559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City sees hot spots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55017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1778000" y="2423170"/>
            <a:ext cx="591800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demo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12800" y="3845570"/>
            <a:ext cx="2527300" cy="589260"/>
          </a:xfrm>
          <a:prstGeom prst="roundRect">
            <a:avLst>
              <a:gd name="adj" fmla="val 17242"/>
            </a:avLst>
          </a:prstGeom>
          <a:solidFill>
            <a:srgbClr val="1D4239"/>
          </a:solidFill>
          <a:ln/>
        </p:spPr>
        <p:txBody>
          <a:bodyPr wrap="square" lIns="173442" tIns="122642" rIns="109815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Scan → Score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92500" y="3845570"/>
            <a:ext cx="2527300" cy="589260"/>
          </a:xfrm>
          <a:prstGeom prst="roundRect">
            <a:avLst>
              <a:gd name="adj" fmla="val 17242"/>
            </a:avLst>
          </a:prstGeom>
          <a:solidFill>
            <a:srgbClr val="1D4239"/>
          </a:solidFill>
          <a:ln/>
        </p:spPr>
        <p:txBody>
          <a:bodyPr wrap="square" lIns="173442" tIns="122642" rIns="109815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Grid Sync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72200" y="3845570"/>
            <a:ext cx="2527300" cy="589260"/>
          </a:xfrm>
          <a:prstGeom prst="roundRect">
            <a:avLst>
              <a:gd name="adj" fmla="val 17242"/>
            </a:avLst>
          </a:prstGeom>
          <a:solidFill>
            <a:srgbClr val="1D4239"/>
          </a:solidFill>
          <a:ln/>
        </p:spPr>
        <p:txBody>
          <a:bodyPr wrap="square" lIns="173442" tIns="122642" rIns="109815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Wattson City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51900" y="3845570"/>
            <a:ext cx="2527300" cy="589260"/>
          </a:xfrm>
          <a:prstGeom prst="roundRect">
            <a:avLst>
              <a:gd name="adj" fmla="val 17242"/>
            </a:avLst>
          </a:prstGeom>
          <a:solidFill>
            <a:srgbClr val="1D4239"/>
          </a:solidFill>
          <a:ln/>
        </p:spPr>
        <p:txBody>
          <a:bodyPr wrap="square" lIns="173442" tIns="122642" rIns="109815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Impact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Feedback is proven to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725265"/>
            <a:ext cx="3380284" cy="2007791"/>
          </a:xfrm>
          <a:prstGeom prst="roundRect">
            <a:avLst>
              <a:gd name="adj" fmla="val 7432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2033240"/>
            <a:ext cx="284726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366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23950" y="2896840"/>
            <a:ext cx="284726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 electricity from paper reports alone (588K homes)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09" y="1725265"/>
            <a:ext cx="3380333" cy="2007791"/>
          </a:xfrm>
          <a:prstGeom prst="roundRect">
            <a:avLst>
              <a:gd name="adj" fmla="val 7432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13784" y="2033240"/>
            <a:ext cx="28473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366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4–12%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713784" y="2896840"/>
            <a:ext cx="284731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savings across 57 feedback programs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692" y="1725265"/>
            <a:ext cx="3380333" cy="2007791"/>
          </a:xfrm>
          <a:prstGeom prst="roundRect">
            <a:avLst>
              <a:gd name="adj" fmla="val 7432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3667" y="2033240"/>
            <a:ext cx="28473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366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$10B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303667" y="2896840"/>
            <a:ext cx="284731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year in grid savings from shifting home demand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Sources: Allcott &amp; Rogers (Opower) · ACEEE 2010 · DOE VPP Liftoff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app. Three resources. Both sides.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90"/>
          <a:ext cx="10553700" cy="2636044"/>
        </p:xfrm>
        <a:graphic>
          <a:graphicData uri="http://schemas.openxmlformats.org/drawingml/2006/table">
            <a:tbl>
              <a:tblPr/>
              <a:tblGrid>
                <a:gridCol w="2955036"/>
                <a:gridCol w="1266444"/>
                <a:gridCol w="1266444"/>
                <a:gridCol w="1266444"/>
                <a:gridCol w="1899666"/>
                <a:gridCol w="1899666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Energy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Water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Food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hardware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Helps cities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F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Opower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Sense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Flume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Too Good To Go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3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9A2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Wattson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74034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Market:</a:t>
            </a: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~101K Richmond households · 20K energy-burdened · utilities and city planners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we reach Richmond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65"/>
            <a:ext cx="5175250" cy="1210270"/>
          </a:xfrm>
          <a:prstGeom prst="roundRect">
            <a:avLst>
              <a:gd name="adj" fmla="val 12330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931640"/>
            <a:ext cx="46960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Utility bills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23950" y="2343100"/>
            <a:ext cx="469607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 inserts and the DPU portal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65"/>
            <a:ext cx="5175250" cy="1210270"/>
          </a:xfrm>
          <a:prstGeom prst="roundRect">
            <a:avLst>
              <a:gd name="adj" fmla="val 12330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8750" y="1931640"/>
            <a:ext cx="46960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Assistance programs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08750" y="2343100"/>
            <a:ext cx="469607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Weatherization caseworkers onboard families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975" y="3094286"/>
            <a:ext cx="5175250" cy="1210270"/>
          </a:xfrm>
          <a:prstGeom prst="roundRect">
            <a:avLst>
              <a:gd name="adj" fmla="val 12330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3950" y="3351461"/>
            <a:ext cx="46960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Schools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23950" y="3762921"/>
            <a:ext cx="469607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VCU, UR and RPS Resource Challenge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0775" y="3094286"/>
            <a:ext cx="5175250" cy="1210270"/>
          </a:xfrm>
          <a:prstGeom prst="roundRect">
            <a:avLst>
              <a:gd name="adj" fmla="val 12330"/>
            </a:avLst>
          </a:prstGeom>
          <a:solidFill>
            <a:srgbClr val="FBFAF5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8750" y="3351461"/>
            <a:ext cx="46960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Neighborhood leagues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8750" y="3762921"/>
            <a:ext cx="469607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Civic associations compete on scores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 for homes. Paid by those who save.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90"/>
            <a:ext cx="3386634" cy="2428131"/>
          </a:xfrm>
          <a:prstGeom prst="roundRect">
            <a:avLst>
              <a:gd name="adj" fmla="val 6276"/>
            </a:avLst>
          </a:prstGeom>
          <a:solidFill>
            <a:srgbClr val="FBFAF5"/>
          </a:solidFill>
          <a:ln/>
        </p:spPr>
      </p:sp>
      <p:pic>
        <p:nvPicPr>
          <p:cNvPr id="4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197609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7600" y="2509490"/>
            <a:ext cx="286034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Households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7600" y="2971750"/>
            <a:ext cx="2860345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Free. Affiliate swaps for efficient appliances and solar.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02634" y="1671290"/>
            <a:ext cx="3386683" cy="2428131"/>
          </a:xfrm>
          <a:prstGeom prst="roundRect">
            <a:avLst>
              <a:gd name="adj" fmla="val 6276"/>
            </a:avLst>
          </a:prstGeom>
          <a:solidFill>
            <a:srgbClr val="FBFAF5"/>
          </a:solidFill>
          <a:ln/>
        </p:spPr>
      </p:sp>
      <p:pic>
        <p:nvPicPr>
          <p:cNvPr id="8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7434" y="197609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7434" y="2509490"/>
            <a:ext cx="28603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Utilities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707434" y="2971750"/>
            <a:ext cx="2860396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 for Grid Sync. Shifted demand beats new power plants.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92517" y="1671290"/>
            <a:ext cx="3386683" cy="2428131"/>
          </a:xfrm>
          <a:prstGeom prst="roundRect">
            <a:avLst>
              <a:gd name="adj" fmla="val 6276"/>
            </a:avLst>
          </a:prstGeom>
          <a:solidFill>
            <a:srgbClr val="FBFAF5"/>
          </a:solidFill>
          <a:ln/>
        </p:spPr>
      </p:sp>
      <p:pic>
        <p:nvPicPr>
          <p:cNvPr id="12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7317" y="1976090"/>
            <a:ext cx="40640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97317" y="2509490"/>
            <a:ext cx="28603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3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Cities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97317" y="2971750"/>
            <a:ext cx="2860396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A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License Wattson City to plan upgrades and win grants.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10% of Richmond homes used Wattson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72890"/>
            <a:ext cx="348823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E9A2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50M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2763490"/>
            <a:ext cx="348823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gallons of water saved a year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02634" y="1772890"/>
            <a:ext cx="3488284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E9A2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4.2 GWh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4402634" y="3652490"/>
            <a:ext cx="348828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electricity saved a year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92517" y="1772890"/>
            <a:ext cx="3488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E9A2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$4.6M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7992517" y="2763490"/>
            <a:ext cx="348828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food kept out of the trash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Estimates from EPA, ACEEE and ReFED figures · ~10,100 homes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999059"/>
            <a:ext cx="10883392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Homes waste blind. Cities build blind.</a:t>
            </a:r>
            <a:endParaRPr lang="en-US" sz="4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E9A2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Wattson connects them.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42646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Starting with Richmond.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3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[Team names] ·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tson">
  <a:themeElements>
    <a:clrScheme name="Wattson">
      <a:dk1>
        <a:srgbClr val="12302A"/>
      </a:dk1>
      <a:lt1>
        <a:srgbClr val="F5F2EA"/>
      </a:lt1>
      <a:dk2>
        <a:srgbClr val="29433D"/>
      </a:dk2>
      <a:lt2>
        <a:srgbClr val="BCC2BA"/>
      </a:lt2>
      <a:accent1>
        <a:srgbClr val="23668F"/>
      </a:accent1>
      <a:accent2>
        <a:srgbClr val="E9A23B"/>
      </a:accent2>
      <a:accent3>
        <a:srgbClr val="4A5A55"/>
      </a:accent3>
      <a:accent4>
        <a:srgbClr val="BFD3CB"/>
      </a:accent4>
      <a:accent5>
        <a:srgbClr val="9AA0A6"/>
      </a:accent5>
      <a:accent6>
        <a:srgbClr val="9AA49D"/>
      </a:accent6>
      <a:hlink>
        <a:srgbClr val="0563C1"/>
      </a:hlink>
      <a:folHlink>
        <a:srgbClr val="954F72"/>
      </a:folHlink>
    </a:clrScheme>
    <a:fontScheme name="Wattson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Wattson</dc:title>
  <dc:subject/>
  <dc:creator/>
  <cp:lastModifiedBy/>
  <cp:revision>1</cp:revision>
  <dcterms:created xsi:type="dcterms:W3CDTF">2026-10-18T14:54:39Z</dcterms:created>
  <dcterms:modified xsi:type="dcterms:W3CDTF">2026-10-18T14:54:39Z</dcterms:modified>
</cp:coreProperties>
</file>